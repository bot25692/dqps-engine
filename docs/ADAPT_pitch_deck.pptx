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38e6f75-770e-2aab-08a7-eaf642c4eddb}">
          <p14:sldIdLst>
            <p14:sldId id="256"/>
          </p14:sldIdLst>
        </p14:section>
        <p14:section name="Problem" id="{5c734d51-b757-37a1-a18c-29d9df15070c}">
          <p14:sldIdLst>
            <p14:sldId id="257"/>
            <p14:sldId id="258"/>
          </p14:sldIdLst>
        </p14:section>
        <p14:section name="Solution" id="{41137617-e714-dac6-371f-211649ad7d6a}">
          <p14:sldIdLst>
            <p14:sldId id="259"/>
            <p14:sldId id="260"/>
          </p14:sldIdLst>
        </p14:section>
        <p14:section name="Proof" id="{b6db3e46-e3c8-25ab-28da-00494bd9e39d}">
          <p14:sldIdLst>
            <p14:sldId id="261"/>
            <p14:sldId id="262"/>
            <p14:sldId id="263"/>
          </p14:sldIdLst>
        </p14:section>
        <p14:section name="Close" id="{e41bed5f-7970-4582-8bde-3037750a3469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11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118"/>
                </a:solidFill>
                <a:latin typeface="+mn-lt"/>
              </a:rPr>
              <a:t>Break-even ROAS by SKU (1 ÷ margin)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Break-even ROAS</c:v>
                </c:pt>
              </c:strCache>
            </c:strRef>
          </c:tx>
          <c:spPr>
            <a:solidFill>
              <a:srgbClr val="4C6A86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Basic Tee</c:v>
                  </c:pt>
                  <c:pt idx="1">
                    <c:v>Socks 3-Pack</c:v>
                  </c:pt>
                  <c:pt idx="2">
                    <c:v>Cap</c:v>
                  </c:pt>
                  <c:pt idx="3">
                    <c:v>Court Sneaker</c:v>
                  </c:pt>
                  <c:pt idx="4">
                    <c:v>Jogger</c:v>
                  </c:pt>
                  <c:pt idx="5">
                    <c:v>Hoodie</c:v>
                  </c:pt>
                  <c:pt idx="6">
                    <c:v>Bag</c:v>
                  </c:pt>
                  <c:pt idx="7">
                    <c:v>Premium Tee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5.56</c:v>
                </c:pt>
                <c:pt idx="1">
                  <c:v>2.38</c:v>
                </c:pt>
                <c:pt idx="2">
                  <c:v>2.22</c:v>
                </c:pt>
                <c:pt idx="3">
                  <c:v>2.22</c:v>
                </c:pt>
                <c:pt idx="4">
                  <c:v>2.08</c:v>
                </c:pt>
                <c:pt idx="5">
                  <c:v>2</c:v>
                </c:pt>
                <c:pt idx="6">
                  <c:v>1.92</c:v>
                </c:pt>
                <c:pt idx="7">
                  <c:v>1.64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1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11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118"/>
                </a:solidFill>
                <a:latin typeface="+mn-lt"/>
              </a:rPr>
              <a:t>Daily budget by campaign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8A97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Court Sneaker</c:v>
                  </c:pt>
                  <c:pt idx="1">
                    <c:v>Premium Tee</c:v>
                  </c:pt>
                  <c:pt idx="2">
                    <c:v>Hoodie</c:v>
                  </c:pt>
                  <c:pt idx="3">
                    <c:v>Jogger</c:v>
                  </c:pt>
                  <c:pt idx="4">
                    <c:v>Bag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30000</c:v>
                </c:pt>
                <c:pt idx="1">
                  <c:v>25000</c:v>
                </c:pt>
                <c:pt idx="2">
                  <c:v>12000</c:v>
                </c:pt>
                <c:pt idx="3">
                  <c:v>10000</c:v>
                </c:pt>
                <c:pt idx="4">
                  <c:v>4000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E88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Court Sneaker</c:v>
                  </c:pt>
                  <c:pt idx="1">
                    <c:v>Premium Tee</c:v>
                  </c:pt>
                  <c:pt idx="2">
                    <c:v>Hoodie</c:v>
                  </c:pt>
                  <c:pt idx="3">
                    <c:v>Jogger</c:v>
                  </c:pt>
                  <c:pt idx="4">
                    <c:v>Bag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8800</c:v>
                </c:pt>
                <c:pt idx="1">
                  <c:v>35000</c:v>
                </c:pt>
                <c:pt idx="2">
                  <c:v>16500</c:v>
                </c:pt>
                <c:pt idx="3">
                  <c:v>14000</c:v>
                </c:pt>
                <c:pt idx="4">
                  <c:v>5500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11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11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ROAS tells you what sold. A.D.A.P.T. tells you where the next rupee earns profit. Keep this slide under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has this problem: growth and performance-marketing leads at D2C brands who split one daily budget across Meta, Google, TikTok and Amazon. The Court Sneaker is a seeded scenario from our demo data: the dashboard says scale it, but it has under one day of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ROAS is 1 divided by margin rate. These values come straight from the seeded SKU margins in scripts/seed.ts. Optimising a single ROAS number rewards the wrong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quickly. Emphasise that approval is always human and that no language model touches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locked rules in CONTEXT.md and are covered by the 86-test suite. The objective is profit, not ROAS.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Seeded apparel brand, 45 days, as-of 2026-10-07. Sneaker budget is cut because stock is under three days, even though its ROAS is high. Numbers come from the engine output of POST /api/run-analysis.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from the release smoke test with seed 42. The simulation ended up better than predicted; the error is measured as absolute deviation, so it still reduces confidence. We show this openly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lib/analysis is arrays-in, arrays-out and must never import lib/simulation; a test enforces it. Stack: Next.js 16, React 19, TypeScript, Tailwind v4, Recharts, Zod, Vitest, optional Supabase.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profit-aware, stock-aware, explainable, human-approved. Be upfront that ad data and execution are simulated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1F4F7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ADVERTISING DECISION AUTOMATION FOR PROFITABLE TARGETING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A.D.A.P.T.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834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4F7"/>
                </a:solidFill>
              </a:rPr>
              <a:t>Move ad budget to where it earns profit, not just ROAS. Explained, approved by a human, and learned from.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Team M.A.R.K.A.N.  ·  Exathon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ROAS says scale. The warehouse says stop</a:t>
            </a:r>
            <a:endParaRPr lang="en-US" sz="3200" dirty="0"/>
          </a:p>
        </p:txBody>
      </p:sp>
      <p:sp>
        <p:nvSpPr>
          <p:cNvPr id="3" name="card0"/>
          <p:cNvSpPr/>
          <p:nvPr/>
        </p:nvSpPr>
        <p:spPr>
          <a:xfrm>
            <a:off x="457200" y="1371600"/>
            <a:ext cx="2331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bg0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tock blind spo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0934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Stock blind spots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57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Ads keep spending on products about to sell out.</a:t>
            </a:r>
            <a:endParaRPr lang="en-US" sz="1400" dirty="0"/>
          </a:p>
        </p:txBody>
      </p:sp>
      <p:sp>
        <p:nvSpPr>
          <p:cNvPr id="8" name="card1"/>
          <p:cNvSpPr/>
          <p:nvPr/>
        </p:nvSpPr>
        <p:spPr>
          <a:xfrm>
            <a:off x="2926080" y="1371600"/>
            <a:ext cx="2331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bg1"/>
          <p:cNvSpPr/>
          <p:nvPr/>
        </p:nvSpPr>
        <p:spPr>
          <a:xfrm>
            <a:off x="30632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Margin blind spo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160934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Margin blind spots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063240" y="20574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3× ROAS can still lose money on a thin-margin SKU.</a:t>
            </a:r>
            <a:endParaRPr lang="en-US" sz="1400" dirty="0"/>
          </a:p>
        </p:txBody>
      </p:sp>
      <p:sp>
        <p:nvSpPr>
          <p:cNvPr id="13" name="card2"/>
          <p:cNvSpPr/>
          <p:nvPr/>
        </p:nvSpPr>
        <p:spPr>
          <a:xfrm>
            <a:off x="45720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bg2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low diagnosi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20954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Slow diagnosis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94360" y="3657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CTR, CVR, order value or CPM? Teams guess for days.</a:t>
            </a:r>
            <a:endParaRPr lang="en-US" sz="1400" dirty="0"/>
          </a:p>
        </p:txBody>
      </p:sp>
      <p:sp>
        <p:nvSpPr>
          <p:cNvPr id="18" name="card3"/>
          <p:cNvSpPr/>
          <p:nvPr/>
        </p:nvSpPr>
        <p:spPr>
          <a:xfrm>
            <a:off x="292608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bg3"/>
          <p:cNvSpPr/>
          <p:nvPr/>
        </p:nvSpPr>
        <p:spPr>
          <a:xfrm>
            <a:off x="306324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No feedback lo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320954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566160" y="31089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feedback loop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063240" y="3657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Nobody checks if last week's move actually paid off.</a:t>
            </a:r>
            <a:endParaRPr lang="en-US" sz="1400" dirty="0"/>
          </a:p>
        </p:txBody>
      </p:sp>
      <p:sp>
        <p:nvSpPr>
          <p:cNvPr id="23" name="statpanel"/>
          <p:cNvSpPr/>
          <p:nvPr/>
        </p:nvSpPr>
        <p:spPr>
          <a:xfrm>
            <a:off x="5577840" y="1371600"/>
            <a:ext cx="3108960" cy="3063240"/>
          </a:xfrm>
          <a:prstGeom prst="roundRect">
            <a:avLst>
              <a:gd name="adj" fmla="val 298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58521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COURT SNEAKER · META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85216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4.6×</a:t>
            </a:r>
            <a:endParaRPr lang="en-US" sz="5400" dirty="0"/>
          </a:p>
        </p:txBody>
      </p:sp>
      <p:sp>
        <p:nvSpPr>
          <p:cNvPr id="26" name="Text 20"/>
          <p:cNvSpPr txBox="1"/>
          <p:nvPr/>
        </p:nvSpPr>
        <p:spPr>
          <a:xfrm>
            <a:off x="58521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ROAS looks great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85216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 days</a:t>
            </a:r>
            <a:endParaRPr lang="en-US" sz="3600" dirty="0"/>
          </a:p>
        </p:txBody>
      </p:sp>
      <p:sp>
        <p:nvSpPr>
          <p:cNvPr id="28" name="Text 22"/>
          <p:cNvSpPr txBox="1"/>
          <p:nvPr/>
        </p:nvSpPr>
        <p:spPr>
          <a:xfrm>
            <a:off x="585216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 stock left (28 units)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ROAS target fits no product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5.6×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194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ROAS the Basic Graphic Tee needs just to break even (18% margin)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3063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1.6×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 enough for the Premium T-Shirt (61% margin)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data to decision</a:t>
            </a:r>
            <a:endParaRPr lang="en-US" sz="3200" dirty="0"/>
          </a:p>
        </p:txBody>
      </p:sp>
      <p:sp>
        <p:nvSpPr>
          <p:cNvPr id="3" name="stepicon0"/>
          <p:cNvSpPr/>
          <p:nvPr/>
        </p:nvSpPr>
        <p:spPr>
          <a:xfrm>
            <a:off x="457200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Detec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2801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240280" y="128016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Robust anomaly and creative-fatigue rules</a:t>
            </a:r>
            <a:endParaRPr lang="en-US" sz="1400" dirty="0"/>
          </a:p>
        </p:txBody>
      </p:sp>
      <p:sp>
        <p:nvSpPr>
          <p:cNvPr id="7" name="stepicon1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Diagno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8528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8288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Diagnose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240280" y="1828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Split ROAS change into CTR, CVR, AOV, CPM</a:t>
            </a:r>
            <a:endParaRPr lang="en-US" sz="1400" dirty="0"/>
          </a:p>
        </p:txBody>
      </p:sp>
      <p:sp>
        <p:nvSpPr>
          <p:cNvPr id="11" name="stepicon2"/>
          <p:cNvSpPr/>
          <p:nvPr/>
        </p:nvSpPr>
        <p:spPr>
          <a:xfrm>
            <a:off x="457200" y="23774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Deci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8716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377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Decide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240280" y="23774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Max profit under stock and budget guardrails</a:t>
            </a:r>
            <a:endParaRPr lang="en-US" sz="1400" dirty="0"/>
          </a:p>
        </p:txBody>
      </p:sp>
      <p:sp>
        <p:nvSpPr>
          <p:cNvPr id="15" name="stepicon3"/>
          <p:cNvSpPr/>
          <p:nvPr/>
        </p:nvSpPr>
        <p:spPr>
          <a:xfrm>
            <a:off x="457200" y="2926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Approv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3580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1560" y="2926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Approve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240280" y="29260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human signs off. Every decision is logged</a:t>
            </a:r>
            <a:endParaRPr lang="en-US" sz="1400" dirty="0"/>
          </a:p>
        </p:txBody>
      </p:sp>
      <p:sp>
        <p:nvSpPr>
          <p:cNvPr id="19" name="stepicon4"/>
          <p:cNvSpPr/>
          <p:nvPr/>
        </p:nvSpPr>
        <p:spPr>
          <a:xfrm>
            <a:off x="457200" y="34747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Simulat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8444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51560" y="34747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Simulate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2240280" y="34747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3-day hidden-world run with noise and ramp</a:t>
            </a:r>
            <a:endParaRPr lang="en-US" sz="1400" dirty="0"/>
          </a:p>
        </p:txBody>
      </p:sp>
      <p:sp>
        <p:nvSpPr>
          <p:cNvPr id="23" name="stepicon5"/>
          <p:cNvSpPr/>
          <p:nvPr/>
        </p:nvSpPr>
        <p:spPr>
          <a:xfrm>
            <a:off x="457200" y="4023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5" descr="Lear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133088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51560" y="40233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Learn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2240280" y="402336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Prediction error updates model confidence</a:t>
            </a:r>
            <a:endParaRPr lang="en-US" sz="1400" dirty="0"/>
          </a:p>
        </p:txBody>
      </p:sp>
      <p:sp>
        <p:nvSpPr>
          <p:cNvPr id="27" name="trustpanel"/>
          <p:cNvSpPr/>
          <p:nvPr/>
        </p:nvSpPr>
        <p:spPr>
          <a:xfrm>
            <a:off x="594360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62179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output is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21792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Explained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21792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Human-approved</a:t>
            </a:r>
            <a:endParaRPr lang="en-US" sz="2000" dirty="0"/>
          </a:p>
        </p:txBody>
      </p:sp>
      <p:sp>
        <p:nvSpPr>
          <p:cNvPr id="31" name="Text 23"/>
          <p:cNvSpPr txBox="1"/>
          <p:nvPr/>
        </p:nvSpPr>
        <p:spPr>
          <a:xfrm>
            <a:off x="62179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Logged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 by code, never by an LLM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math with hard guardrails</a:t>
            </a:r>
            <a:endParaRPr lang="en-US" sz="3200" dirty="0"/>
          </a:p>
        </p:txBody>
      </p:sp>
      <p:sp>
        <p:nvSpPr>
          <p:cNvPr id="3" name="formula0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CONTRIBUTION PROFIT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× margin − ad spend</a:t>
            </a:r>
            <a:endParaRPr lang="en-US" sz="1400" dirty="0"/>
          </a:p>
        </p:txBody>
      </p:sp>
      <p:sp>
        <p:nvSpPr>
          <p:cNvPr id="6" name="formula1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BREAK-EVEN ROAS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÷ margin_rate, per SKU</a:t>
            </a:r>
            <a:endParaRPr lang="en-US" sz="1400" dirty="0"/>
          </a:p>
        </p:txBody>
      </p:sp>
      <p:sp>
        <p:nvSpPr>
          <p:cNvPr id="9" name="formula2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MARGINAL PROFIT PER ₹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× β × revenue ÷ spend − 1</a:t>
            </a:r>
            <a:endParaRPr lang="en-US" sz="1400" dirty="0"/>
          </a:p>
        </p:txBody>
      </p:sp>
      <p:sp>
        <p:nvSpPr>
          <p:cNvPr id="12" name="shieldbg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0" descr="Guardrail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380744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34924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Guardrails enforced in code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Under 5 days of stock: warning. Under 3: forced donor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Receivers keep 7 days of cover after uplift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Moves capped at +40% / −30% per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platform keeps 60% of its spend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budget conserved; leftovers held 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moves worth ₹300/day or more, max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plan: protect stock, fund what earns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80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+₹8,516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expected profit gain per day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₹1,200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held back: no profitable home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moves · all 7 guardrails passed · total budget conserved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closes, and we show the error</a:t>
            </a:r>
            <a:endParaRPr lang="en-US" sz="3200" dirty="0"/>
          </a:p>
        </p:txBody>
      </p:sp>
      <p:sp>
        <p:nvSpPr>
          <p:cNvPr id="3" name="stat0"/>
          <p:cNvSpPr/>
          <p:nvPr/>
        </p:nvSpPr>
        <p:spPr>
          <a:xfrm>
            <a:off x="457200" y="13258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₹25,549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Predicted 3-day gain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2542032" y="13258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79192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₹74,505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Simulated outcome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4626864" y="13258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64024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191.6%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Prediction error</a:t>
            </a:r>
            <a:endParaRPr lang="en-US" sz="1400" dirty="0"/>
          </a:p>
        </p:txBody>
      </p:sp>
      <p:sp>
        <p:nvSpPr>
          <p:cNvPr id="12" name="stat3"/>
          <p:cNvSpPr/>
          <p:nvPr/>
        </p:nvSpPr>
        <p:spPr>
          <a:xfrm>
            <a:off x="6711696" y="132588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48856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 → 0.67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Confidence after learning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Honest by design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large miss lowers confidence by a capped step (max ±0.08). We don't tune it away.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Human always decides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Approve, reject or reset. Rejected plans never execute.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Reproducible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566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seed, same result. Reset and replay for any audience.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functions, one data interface</a:t>
            </a:r>
            <a:endParaRPr lang="en-US" sz="3200" dirty="0"/>
          </a:p>
        </p:txBody>
      </p:sp>
      <p:sp>
        <p:nvSpPr>
          <p:cNvPr id="3" name="arch Next.js UI"/>
          <p:cNvSpPr/>
          <p:nvPr/>
        </p:nvSpPr>
        <p:spPr>
          <a:xfrm>
            <a:off x="457200" y="123444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4C6A8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2893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UI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7548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Overview · Campaigns · Recommendations · Learning</a:t>
            </a:r>
            <a:endParaRPr lang="en-US" sz="1100" dirty="0"/>
          </a:p>
        </p:txBody>
      </p:sp>
      <p:sp>
        <p:nvSpPr>
          <p:cNvPr id="6" name="arch API routes"/>
          <p:cNvSpPr/>
          <p:nvPr/>
        </p:nvSpPr>
        <p:spPr>
          <a:xfrm>
            <a:off x="457200" y="210312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4C6A8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157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routes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47548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/run-analysis · /decide · /analysis</a:t>
            </a:r>
            <a:endParaRPr lang="en-US" sz="1100" dirty="0"/>
          </a:p>
        </p:txBody>
      </p:sp>
      <p:sp>
        <p:nvSpPr>
          <p:cNvPr id="9" name="arch lib/analysis"/>
          <p:cNvSpPr/>
          <p:nvPr/>
        </p:nvSpPr>
        <p:spPr>
          <a:xfrm>
            <a:off x="457200" y="297180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E883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30266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lib/analysis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21488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detect · rootcause · optimize (pure)</a:t>
            </a:r>
            <a:endParaRPr lang="en-US" sz="1100" dirty="0"/>
          </a:p>
        </p:txBody>
      </p:sp>
      <p:sp>
        <p:nvSpPr>
          <p:cNvPr id="12" name="arch lib/simulation"/>
          <p:cNvSpPr/>
          <p:nvPr/>
        </p:nvSpPr>
        <p:spPr>
          <a:xfrm>
            <a:off x="3063240" y="2971800"/>
            <a:ext cx="2331720" cy="731520"/>
          </a:xfrm>
          <a:prstGeom prst="roundRect">
            <a:avLst>
              <a:gd name="adj" fmla="val 7500"/>
            </a:avLst>
          </a:prstGeom>
          <a:solidFill>
            <a:srgbClr val="E883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154680" y="30266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lib/simulation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337560"/>
            <a:ext cx="21488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isolated: analysis never imports it</a:t>
            </a:r>
            <a:endParaRPr lang="en-US" sz="1100" dirty="0"/>
          </a:p>
        </p:txBody>
      </p:sp>
      <p:sp>
        <p:nvSpPr>
          <p:cNvPr id="15" name="arch FixtureRepo"/>
          <p:cNvSpPr/>
          <p:nvPr/>
        </p:nvSpPr>
        <p:spPr>
          <a:xfrm>
            <a:off x="457200" y="39319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0B111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8640" y="3986784"/>
            <a:ext cx="2148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FixtureRepo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29100"/>
            <a:ext cx="214884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default · JSON seed</a:t>
            </a:r>
            <a:endParaRPr lang="en-US" sz="1100" dirty="0"/>
          </a:p>
        </p:txBody>
      </p:sp>
      <p:sp>
        <p:nvSpPr>
          <p:cNvPr id="18" name="arch SupabaseRepo"/>
          <p:cNvSpPr/>
          <p:nvPr/>
        </p:nvSpPr>
        <p:spPr>
          <a:xfrm>
            <a:off x="3063240" y="3931920"/>
            <a:ext cx="2331720" cy="594360"/>
          </a:xfrm>
          <a:prstGeom prst="roundRect">
            <a:avLst>
              <a:gd name="adj" fmla="val 9231"/>
            </a:avLst>
          </a:prstGeom>
          <a:solidFill>
            <a:srgbClr val="0B111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154680" y="3986784"/>
            <a:ext cx="2148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SupabaseRepo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4229100"/>
            <a:ext cx="214884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falls back after 3 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1874520"/>
            <a:ext cx="0" cy="22860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26080" y="2743200"/>
            <a:ext cx="0" cy="22860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627632" y="3703320"/>
            <a:ext cx="0" cy="22860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24528" y="3703320"/>
            <a:ext cx="0" cy="228600"/>
          </a:xfrm>
          <a:prstGeom prst="line">
            <a:avLst/>
          </a:prstGeom>
          <a:noFill/>
          <a:ln w="1905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9436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tests passing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2075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ms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run a full analysis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3392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LLM calls on the click path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real ad APIs (simulated)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simulated to live</a:t>
            </a:r>
            <a:endParaRPr lang="en-US" sz="4400" dirty="0"/>
          </a:p>
        </p:txBody>
      </p:sp>
      <p:sp>
        <p:nvSpPr>
          <p:cNvPr id="3" name="road0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Connect real ad API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505456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Connect real ad APIs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Replace simulated execution with Meta, Google and TikTok connectors.</a:t>
            </a:r>
            <a:endParaRPr lang="en-US" sz="1400" dirty="0"/>
          </a:p>
        </p:txBody>
      </p:sp>
      <p:sp>
        <p:nvSpPr>
          <p:cNvPr id="7" name="road1"/>
          <p:cNvSpPr/>
          <p:nvPr/>
        </p:nvSpPr>
        <p:spPr>
          <a:xfrm>
            <a:off x="32918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Durable decis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50545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Durable decisions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Move approval and outcome state into transactional Supabase.</a:t>
            </a:r>
            <a:endParaRPr lang="en-US" sz="1400" dirty="0"/>
          </a:p>
        </p:txBody>
      </p:sp>
      <p:sp>
        <p:nvSpPr>
          <p:cNvPr id="11" name="road2"/>
          <p:cNvSpPr/>
          <p:nvPr/>
        </p:nvSpPr>
        <p:spPr>
          <a:xfrm>
            <a:off x="60350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More brand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50545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More brands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Already tested on an independent skincare dataset.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github.com/Bot25692/dqps-engine  ·  MIT License  ·  Team M.A.R.K.A.N.</a:t>
            </a:r>
            <a:endParaRPr lang="en-US" sz="14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548640" y="2834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PT">
  <a:themeElements>
    <a:clrScheme name="ADAPT">
      <a:dk1>
        <a:srgbClr val="0B1118"/>
      </a:dk1>
      <a:lt1>
        <a:srgbClr val="FFFFFF"/>
      </a:lt1>
      <a:dk2>
        <a:srgbClr val="16222E"/>
      </a:dk2>
      <a:lt2>
        <a:srgbClr val="F1F4F7"/>
      </a:lt2>
      <a:accent1>
        <a:srgbClr val="E8834F"/>
      </a:accent1>
      <a:accent2>
        <a:srgbClr val="3DBE8B"/>
      </a:accent2>
      <a:accent3>
        <a:srgbClr val="E5594F"/>
      </a:accent3>
      <a:accent4>
        <a:srgbClr val="F2B84B"/>
      </a:accent4>
      <a:accent5>
        <a:srgbClr val="8A97A6"/>
      </a:accent5>
      <a:accent6>
        <a:srgbClr val="4C6A86"/>
      </a:accent6>
      <a:hlink>
        <a:srgbClr val="E8834F"/>
      </a:hlink>
      <a:folHlink>
        <a:srgbClr val="8A97A6"/>
      </a:folHlink>
    </a:clrScheme>
    <a:fontScheme name="ADAP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A.D.A.P.T. — Pitch Deck</dc:title>
  <dc:subject>PptxGenJS Presentation</dc:subject>
  <dc:creator>Team M.A.R.K.A.N.</dc:creator>
  <cp:lastModifiedBy>Team M.A.R.K.A.N.</cp:lastModifiedBy>
  <cp:revision>1</cp:revision>
  <dcterms:created xsi:type="dcterms:W3CDTF">2026-10-25T16:05:47Z</dcterms:created>
  <dcterms:modified xsi:type="dcterms:W3CDTF">2026-10-25T16:05:47Z</dcterms:modified>
</cp:coreProperties>
</file>